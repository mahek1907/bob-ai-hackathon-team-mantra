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et Ultra-Bold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Garet Light" charset="1" panose="00000000000000000000"/>
      <p:regular r:id="rId16"/>
    </p:embeddedFont>
    <p:embeddedFont>
      <p:font typeface="Garet Bold" charset="1" panose="00000000000000000000"/>
      <p:regular r:id="rId17"/>
    </p:embeddedFont>
    <p:embeddedFont>
      <p:font typeface="Canva Sans" charset="1" panose="020B0503030501040103"/>
      <p:regular r:id="rId18"/>
    </p:embeddedFont>
    <p:embeddedFont>
      <p:font typeface="Roboto Bold" charset="1" panose="02000000000000000000"/>
      <p:regular r:id="rId19"/>
    </p:embeddedFont>
    <p:embeddedFont>
      <p:font typeface="Roboto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799999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86094" y="7297897"/>
            <a:ext cx="126815" cy="12681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15414" y="-1521354"/>
            <a:ext cx="6988427" cy="13390682"/>
            <a:chOff x="0" y="0"/>
            <a:chExt cx="1840573" cy="35267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0573" cy="3526764"/>
            </a:xfrm>
            <a:custGeom>
              <a:avLst/>
              <a:gdLst/>
              <a:ahLst/>
              <a:cxnLst/>
              <a:rect r="r" b="b" t="t" l="l"/>
              <a:pathLst>
                <a:path h="3526764" w="1840573">
                  <a:moveTo>
                    <a:pt x="56499" y="0"/>
                  </a:moveTo>
                  <a:lnTo>
                    <a:pt x="1784074" y="0"/>
                  </a:lnTo>
                  <a:cubicBezTo>
                    <a:pt x="1815278" y="0"/>
                    <a:pt x="1840573" y="25295"/>
                    <a:pt x="1840573" y="56499"/>
                  </a:cubicBezTo>
                  <a:lnTo>
                    <a:pt x="1840573" y="3470265"/>
                  </a:lnTo>
                  <a:cubicBezTo>
                    <a:pt x="1840573" y="3501468"/>
                    <a:pt x="1815278" y="3526764"/>
                    <a:pt x="1784074" y="3526764"/>
                  </a:cubicBezTo>
                  <a:lnTo>
                    <a:pt x="56499" y="3526764"/>
                  </a:lnTo>
                  <a:cubicBezTo>
                    <a:pt x="41514" y="3526764"/>
                    <a:pt x="27144" y="3520811"/>
                    <a:pt x="16548" y="3510216"/>
                  </a:cubicBezTo>
                  <a:cubicBezTo>
                    <a:pt x="5953" y="3499620"/>
                    <a:pt x="0" y="3485249"/>
                    <a:pt x="0" y="3470265"/>
                  </a:cubicBezTo>
                  <a:lnTo>
                    <a:pt x="0" y="56499"/>
                  </a:lnTo>
                  <a:cubicBezTo>
                    <a:pt x="0" y="25295"/>
                    <a:pt x="25295" y="0"/>
                    <a:pt x="56499" y="0"/>
                  </a:cubicBezTo>
                  <a:close/>
                </a:path>
              </a:pathLst>
            </a:custGeom>
            <a:solidFill>
              <a:srgbClr val="000000">
                <a:alpha val="72941"/>
              </a:srgbClr>
            </a:solidFill>
            <a:ln w="66675" cap="rnd">
              <a:gradFill>
                <a:gsLst>
                  <a:gs pos="0">
                    <a:srgbClr val="F7DFFF">
                      <a:alpha val="73000"/>
                    </a:srgbClr>
                  </a:gs>
                  <a:gs pos="50000">
                    <a:srgbClr val="FFFFFF">
                      <a:alpha val="73000"/>
                    </a:srgbClr>
                  </a:gs>
                  <a:gs pos="100000">
                    <a:srgbClr val="87EFFF">
                      <a:alpha val="73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40573" cy="3564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082253"/>
            <a:ext cx="10844219" cy="180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707"/>
              </a:lnSpc>
              <a:spcBef>
                <a:spcPct val="0"/>
              </a:spcBef>
            </a:pPr>
            <a:r>
              <a:rPr lang="en-US" b="true" sz="10505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GridSentinel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783997"/>
            <a:ext cx="10151763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Explainable composite risk intelligence for transformer fleets — from SCADA telemetry to Granite-generated work orders.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586770"/>
            <a:ext cx="84559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IBM Bob AI Hackathon 2026 · Track U1: Grid Reliability &amp; Risk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607853"/>
            <a:ext cx="542211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Presented by Team Mantra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66347" y="7135795"/>
            <a:ext cx="5071885" cy="37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Grid Reliability &amp; Risk Intelligence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710689" y="0"/>
            <a:ext cx="8577311" cy="10287000"/>
          </a:xfrm>
          <a:custGeom>
            <a:avLst/>
            <a:gdLst/>
            <a:ahLst/>
            <a:cxnLst/>
            <a:rect r="r" b="b" t="t" l="l"/>
            <a:pathLst>
              <a:path h="10287000" w="8577311">
                <a:moveTo>
                  <a:pt x="0" y="0"/>
                </a:moveTo>
                <a:lnTo>
                  <a:pt x="8577311" y="0"/>
                </a:lnTo>
                <a:lnTo>
                  <a:pt x="857731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94" t="0" r="-764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135899"/>
            <a:ext cx="1496820" cy="37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Track U1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049377"/>
            <a:ext cx="1218684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 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60418" y="9049377"/>
            <a:ext cx="70498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" r="0" b="-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6768" y="3187003"/>
            <a:ext cx="4776740" cy="5740922"/>
            <a:chOff x="0" y="0"/>
            <a:chExt cx="1289829" cy="15501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9829" cy="1550179"/>
            </a:xfrm>
            <a:custGeom>
              <a:avLst/>
              <a:gdLst/>
              <a:ahLst/>
              <a:cxnLst/>
              <a:rect r="r" b="b" t="t" l="l"/>
              <a:pathLst>
                <a:path h="1550179" w="1289829">
                  <a:moveTo>
                    <a:pt x="0" y="0"/>
                  </a:moveTo>
                  <a:lnTo>
                    <a:pt x="1289829" y="0"/>
                  </a:lnTo>
                  <a:lnTo>
                    <a:pt x="1289829" y="1550179"/>
                  </a:lnTo>
                  <a:lnTo>
                    <a:pt x="0" y="1550179"/>
                  </a:lnTo>
                  <a:close/>
                </a:path>
              </a:pathLst>
            </a:custGeom>
            <a:solidFill>
              <a:srgbClr val="53698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9829" cy="1588279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73697" y="3187003"/>
            <a:ext cx="4776740" cy="5740922"/>
            <a:chOff x="0" y="0"/>
            <a:chExt cx="1289829" cy="15501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829" cy="1550179"/>
            </a:xfrm>
            <a:custGeom>
              <a:avLst/>
              <a:gdLst/>
              <a:ahLst/>
              <a:cxnLst/>
              <a:rect r="r" b="b" t="t" l="l"/>
              <a:pathLst>
                <a:path h="1550179" w="1289829">
                  <a:moveTo>
                    <a:pt x="0" y="0"/>
                  </a:moveTo>
                  <a:lnTo>
                    <a:pt x="1289829" y="0"/>
                  </a:lnTo>
                  <a:lnTo>
                    <a:pt x="1289829" y="1550179"/>
                  </a:lnTo>
                  <a:lnTo>
                    <a:pt x="0" y="1550179"/>
                  </a:lnTo>
                  <a:close/>
                </a:path>
              </a:pathLst>
            </a:custGeom>
            <a:solidFill>
              <a:srgbClr val="53698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9829" cy="1588279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00627" y="3187003"/>
            <a:ext cx="4776740" cy="5740922"/>
            <a:chOff x="0" y="0"/>
            <a:chExt cx="1289829" cy="15501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9829" cy="1550179"/>
            </a:xfrm>
            <a:custGeom>
              <a:avLst/>
              <a:gdLst/>
              <a:ahLst/>
              <a:cxnLst/>
              <a:rect r="r" b="b" t="t" l="l"/>
              <a:pathLst>
                <a:path h="1550179" w="1289829">
                  <a:moveTo>
                    <a:pt x="0" y="0"/>
                  </a:moveTo>
                  <a:lnTo>
                    <a:pt x="1289829" y="0"/>
                  </a:lnTo>
                  <a:lnTo>
                    <a:pt x="1289829" y="1550179"/>
                  </a:lnTo>
                  <a:lnTo>
                    <a:pt x="0" y="1550179"/>
                  </a:lnTo>
                  <a:close/>
                </a:path>
              </a:pathLst>
            </a:custGeom>
            <a:solidFill>
              <a:srgbClr val="53698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9829" cy="1588279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48236" y="3956796"/>
            <a:ext cx="770000" cy="7700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89A0DA">
                    <a:alpha val="67000"/>
                  </a:srgbClr>
                </a:gs>
                <a:gs pos="100000">
                  <a:srgbClr val="406F8D">
                    <a:alpha val="77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75166" y="3956796"/>
            <a:ext cx="770000" cy="7700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89A0DA">
                    <a:alpha val="67000"/>
                  </a:srgbClr>
                </a:gs>
                <a:gs pos="100000">
                  <a:srgbClr val="406F8D">
                    <a:alpha val="77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0485" y="3933636"/>
            <a:ext cx="770000" cy="7700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89A0DA">
                    <a:alpha val="67000"/>
                  </a:srgbClr>
                </a:gs>
                <a:gs pos="100000">
                  <a:srgbClr val="406F8D">
                    <a:alpha val="77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340485" y="6221008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7048236" y="6221008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2775166" y="6221008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46768" y="645422"/>
            <a:ext cx="16394465" cy="100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PROBLEM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6768" y="1883349"/>
            <a:ext cx="1336826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Hidden faults silently degrade transformers — until weather stress and blind spots turn a latent risk into a grid outage.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1307" y="5569394"/>
            <a:ext cx="4085563" cy="36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18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Hidden Transformer Faults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1307" y="6729005"/>
            <a:ext cx="4027663" cy="20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Dissolved gas anomalies and insulation degradation accumulate undetected inside transformers. SCADA telemetry alone cannot surface these latent faults — grid operators are flying blind until failure strikes.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48236" y="6729005"/>
            <a:ext cx="4027663" cy="175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Extreme heat, storms, and load surges accelerate fault progression. Without real-time weather-stress correlation, operators cannot anticipate when a marginal asset will cross the failure threshold.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75166" y="6729005"/>
            <a:ext cx="4027663" cy="20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Not all transformers carry equal consequence. Utilities, transmission operators, and grid reliability engineers lack a composite risk score that weighs physical health, environmental stress, and grid criticality together.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6984" y="4073890"/>
            <a:ext cx="517002" cy="40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0"/>
              </a:lnSpc>
              <a:spcBef>
                <a:spcPct val="0"/>
              </a:spcBef>
            </a:pPr>
            <a:r>
              <a:rPr lang="en-US" sz="23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12623" y="4038783"/>
            <a:ext cx="641227" cy="49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6"/>
              </a:lnSpc>
              <a:spcBef>
                <a:spcPct val="0"/>
              </a:spcBef>
            </a:pPr>
            <a:r>
              <a:rPr lang="en-US" sz="293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48236" y="5569394"/>
            <a:ext cx="3413914" cy="36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18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Weather Compounding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6768" y="9232890"/>
            <a:ext cx="1683387" cy="25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 AI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74413" y="5569394"/>
            <a:ext cx="3599197" cy="36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18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Criticality Blind Spots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39553" y="4038783"/>
            <a:ext cx="641227" cy="49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6"/>
              </a:lnSpc>
              <a:spcBef>
                <a:spcPct val="0"/>
              </a:spcBef>
            </a:pPr>
            <a:r>
              <a:rPr lang="en-US" sz="293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30154" y="9232890"/>
            <a:ext cx="704983" cy="25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83667" r="0" b="-836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489706"/>
            <a:ext cx="3530558" cy="5835771"/>
            <a:chOff x="0" y="0"/>
            <a:chExt cx="953331" cy="1575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3331" cy="1575791"/>
            </a:xfrm>
            <a:custGeom>
              <a:avLst/>
              <a:gdLst/>
              <a:ahLst/>
              <a:cxnLst/>
              <a:rect r="r" b="b" t="t" l="l"/>
              <a:pathLst>
                <a:path h="1575791" w="953331">
                  <a:moveTo>
                    <a:pt x="0" y="0"/>
                  </a:moveTo>
                  <a:lnTo>
                    <a:pt x="953331" y="0"/>
                  </a:lnTo>
                  <a:lnTo>
                    <a:pt x="953331" y="1575791"/>
                  </a:lnTo>
                  <a:lnTo>
                    <a:pt x="0" y="1575791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1D0CD">
                    <a:alpha val="77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53331" cy="1613891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261557" y="2489706"/>
            <a:ext cx="3530558" cy="5835771"/>
            <a:chOff x="0" y="0"/>
            <a:chExt cx="953331" cy="1575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3331" cy="1575791"/>
            </a:xfrm>
            <a:custGeom>
              <a:avLst/>
              <a:gdLst/>
              <a:ahLst/>
              <a:cxnLst/>
              <a:rect r="r" b="b" t="t" l="l"/>
              <a:pathLst>
                <a:path h="1575791" w="953331">
                  <a:moveTo>
                    <a:pt x="0" y="0"/>
                  </a:moveTo>
                  <a:lnTo>
                    <a:pt x="953331" y="0"/>
                  </a:lnTo>
                  <a:lnTo>
                    <a:pt x="953331" y="1575791"/>
                  </a:lnTo>
                  <a:lnTo>
                    <a:pt x="0" y="1575791"/>
                  </a:lnTo>
                  <a:close/>
                </a:path>
              </a:pathLst>
            </a:custGeom>
            <a:gradFill rotWithShape="true">
              <a:gsLst>
                <a:gs pos="0">
                  <a:srgbClr val="D1D0CD">
                    <a:alpha val="77500"/>
                  </a:srgbClr>
                </a:gs>
                <a:gs pos="100000">
                  <a:srgbClr val="275284">
                    <a:alpha val="84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53331" cy="1613891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94413" y="2489706"/>
            <a:ext cx="3530558" cy="5835771"/>
            <a:chOff x="0" y="0"/>
            <a:chExt cx="953331" cy="1575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3331" cy="1575791"/>
            </a:xfrm>
            <a:custGeom>
              <a:avLst/>
              <a:gdLst/>
              <a:ahLst/>
              <a:cxnLst/>
              <a:rect r="r" b="b" t="t" l="l"/>
              <a:pathLst>
                <a:path h="1575791" w="953331">
                  <a:moveTo>
                    <a:pt x="0" y="0"/>
                  </a:moveTo>
                  <a:lnTo>
                    <a:pt x="953331" y="0"/>
                  </a:lnTo>
                  <a:lnTo>
                    <a:pt x="953331" y="1575791"/>
                  </a:lnTo>
                  <a:lnTo>
                    <a:pt x="0" y="1575791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1D0CD">
                    <a:alpha val="77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53331" cy="1613891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8742" y="2489706"/>
            <a:ext cx="3530558" cy="5835771"/>
            <a:chOff x="0" y="0"/>
            <a:chExt cx="953331" cy="1575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3331" cy="1575791"/>
            </a:xfrm>
            <a:custGeom>
              <a:avLst/>
              <a:gdLst/>
              <a:ahLst/>
              <a:cxnLst/>
              <a:rect r="r" b="b" t="t" l="l"/>
              <a:pathLst>
                <a:path h="1575791" w="953331">
                  <a:moveTo>
                    <a:pt x="0" y="0"/>
                  </a:moveTo>
                  <a:lnTo>
                    <a:pt x="953331" y="0"/>
                  </a:lnTo>
                  <a:lnTo>
                    <a:pt x="953331" y="1575791"/>
                  </a:lnTo>
                  <a:lnTo>
                    <a:pt x="0" y="1575791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1D0CD">
                    <a:alpha val="77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53331" cy="1613891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27909" y="2849164"/>
            <a:ext cx="770000" cy="7700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89A0DA">
                    <a:alpha val="67000"/>
                  </a:srgbClr>
                </a:gs>
                <a:gs pos="100000">
                  <a:srgbClr val="406F8D">
                    <a:alpha val="77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88280" y="2849164"/>
            <a:ext cx="770000" cy="7700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89A0DA">
                    <a:alpha val="67000"/>
                  </a:srgbClr>
                </a:gs>
                <a:gs pos="100000">
                  <a:srgbClr val="406F8D">
                    <a:alpha val="77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48650" y="2849164"/>
            <a:ext cx="770000" cy="77000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89A0DA">
                    <a:alpha val="67000"/>
                  </a:srgbClr>
                </a:gs>
                <a:gs pos="100000">
                  <a:srgbClr val="406F8D">
                    <a:alpha val="77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109021" y="2849164"/>
            <a:ext cx="770000" cy="7700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89A0DA">
                    <a:alpha val="67000"/>
                  </a:srgbClr>
                </a:gs>
                <a:gs pos="100000">
                  <a:srgbClr val="406F8D">
                    <a:alpha val="77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2297170" y="5961497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6530027" y="5961497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0762884" y="5961497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997213" y="5961497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897805" y="4294571"/>
            <a:ext cx="717917" cy="567386"/>
          </a:xfrm>
          <a:custGeom>
            <a:avLst/>
            <a:gdLst/>
            <a:ahLst/>
            <a:cxnLst/>
            <a:rect r="r" b="b" t="t" l="l"/>
            <a:pathLst>
              <a:path h="567386" w="717917">
                <a:moveTo>
                  <a:pt x="0" y="0"/>
                </a:moveTo>
                <a:lnTo>
                  <a:pt x="717916" y="0"/>
                </a:lnTo>
                <a:lnTo>
                  <a:pt x="717916" y="567386"/>
                </a:lnTo>
                <a:lnTo>
                  <a:pt x="0" y="56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127836" y="4049338"/>
            <a:ext cx="1163559" cy="843768"/>
          </a:xfrm>
          <a:custGeom>
            <a:avLst/>
            <a:gdLst/>
            <a:ahLst/>
            <a:cxnLst/>
            <a:rect r="r" b="b" t="t" l="l"/>
            <a:pathLst>
              <a:path h="843768" w="1163559">
                <a:moveTo>
                  <a:pt x="0" y="0"/>
                </a:moveTo>
                <a:lnTo>
                  <a:pt x="1163560" y="0"/>
                </a:lnTo>
                <a:lnTo>
                  <a:pt x="1163560" y="843768"/>
                </a:lnTo>
                <a:lnTo>
                  <a:pt x="0" y="8437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530165" y="4101614"/>
            <a:ext cx="991651" cy="893329"/>
          </a:xfrm>
          <a:custGeom>
            <a:avLst/>
            <a:gdLst/>
            <a:ahLst/>
            <a:cxnLst/>
            <a:rect r="r" b="b" t="t" l="l"/>
            <a:pathLst>
              <a:path h="893329" w="991651">
                <a:moveTo>
                  <a:pt x="0" y="0"/>
                </a:moveTo>
                <a:lnTo>
                  <a:pt x="991651" y="0"/>
                </a:lnTo>
                <a:lnTo>
                  <a:pt x="991651" y="893329"/>
                </a:lnTo>
                <a:lnTo>
                  <a:pt x="0" y="893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145124" y="4115226"/>
            <a:ext cx="704620" cy="871246"/>
          </a:xfrm>
          <a:custGeom>
            <a:avLst/>
            <a:gdLst/>
            <a:ahLst/>
            <a:cxnLst/>
            <a:rect r="r" b="b" t="t" l="l"/>
            <a:pathLst>
              <a:path h="871246" w="704620">
                <a:moveTo>
                  <a:pt x="0" y="0"/>
                </a:moveTo>
                <a:lnTo>
                  <a:pt x="704620" y="0"/>
                </a:lnTo>
                <a:lnTo>
                  <a:pt x="704620" y="871246"/>
                </a:lnTo>
                <a:lnTo>
                  <a:pt x="0" y="871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28700" y="1019175"/>
            <a:ext cx="13376991" cy="815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10"/>
              </a:lnSpc>
            </a:pPr>
            <a:r>
              <a:rPr lang="en-US" b="true" sz="533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OUR SOLUTION: END-TO-END PIPELINE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9049377"/>
            <a:ext cx="1331718" cy="23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  <a:spcBef>
                <a:spcPct val="0"/>
              </a:spcBef>
            </a:pPr>
            <a:r>
              <a:rPr lang="en-US" sz="136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 AI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54408" y="9049377"/>
            <a:ext cx="704983" cy="23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  <a:spcBef>
                <a:spcPct val="0"/>
              </a:spcBef>
            </a:pPr>
            <a:r>
              <a:rPr lang="en-US" sz="136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0646" y="5180389"/>
            <a:ext cx="2986666" cy="4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3"/>
              </a:lnSpc>
              <a:spcBef>
                <a:spcPct val="0"/>
              </a:spcBef>
            </a:pPr>
            <a:r>
              <a:rPr lang="en-US" sz="235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Ingest &amp; Diagnose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58087" y="5180389"/>
            <a:ext cx="2937497" cy="4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3"/>
              </a:lnSpc>
              <a:spcBef>
                <a:spcPct val="0"/>
              </a:spcBef>
            </a:pPr>
            <a:r>
              <a:rPr lang="en-US" sz="2359" strike="noStrike" u="none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Stress &amp; Criticality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52686" y="5180389"/>
            <a:ext cx="3408154" cy="4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3"/>
              </a:lnSpc>
              <a:spcBef>
                <a:spcPct val="0"/>
              </a:spcBef>
            </a:pPr>
            <a:r>
              <a:rPr lang="en-US" sz="2359" strike="noStrike" u="none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Composite Risk Score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996521" y="5180389"/>
            <a:ext cx="3036330" cy="4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3"/>
              </a:lnSpc>
              <a:spcBef>
                <a:spcPct val="0"/>
              </a:spcBef>
            </a:pPr>
            <a:r>
              <a:rPr lang="en-US" sz="2359" strike="noStrike" u="none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Granite Work Order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54408" y="3002735"/>
            <a:ext cx="517002" cy="3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sz="18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14779" y="3002735"/>
            <a:ext cx="517002" cy="3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sz="18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954290" y="3002735"/>
            <a:ext cx="517002" cy="3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sz="18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35520" y="3002735"/>
            <a:ext cx="517002" cy="3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sz="18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33827" y="6538787"/>
            <a:ext cx="2720305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SCADA/telemetry streams feed DGA physical health analytics — detecting dissolved gas anomalies and latent transformer faults in real time.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666683" y="6538787"/>
            <a:ext cx="2720305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Weather stress overlays and grid criticality mapping identify which assets face compounding environmental and topological risk.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99540" y="6538787"/>
            <a:ext cx="2720305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60/20/20 composite risk formula weights DGA health, weather stress, and grid criticality into a single explainable risk score per asset.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132396" y="6538787"/>
            <a:ext cx="2720305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IBM Granite 3.0 synthesises a prioritised work order; a human operator countersigns before any field action — advisory only.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9992"/>
            <a:ext cx="11403327" cy="151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7"/>
              </a:lnSpc>
              <a:spcBef>
                <a:spcPct val="0"/>
              </a:spcBef>
            </a:pPr>
            <a:r>
              <a:rPr lang="en-US" b="true" sz="436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HOW IT WORKS: EXPLAINABLE RISK SCORING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9413307"/>
            <a:ext cx="2036701" cy="203283"/>
            <a:chOff x="0" y="0"/>
            <a:chExt cx="2715602" cy="27104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775624" cy="299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20"/>
                </a:lnSpc>
                <a:spcBef>
                  <a:spcPct val="0"/>
                </a:spcBef>
              </a:pPr>
              <a:r>
                <a:rPr lang="en-US" sz="1371">
                  <a:solidFill>
                    <a:srgbClr val="FFFFFF"/>
                  </a:solidFill>
                  <a:latin typeface="Garet Light"/>
                  <a:ea typeface="Garet Light"/>
                  <a:cs typeface="Garet Light"/>
                  <a:sym typeface="Garet Light"/>
                </a:rPr>
                <a:t>GridSentineAI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775624" y="-28575"/>
              <a:ext cx="939978" cy="299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20"/>
                </a:lnSpc>
                <a:spcBef>
                  <a:spcPct val="0"/>
                </a:spcBef>
              </a:pPr>
              <a:r>
                <a:rPr lang="en-US" sz="1371">
                  <a:solidFill>
                    <a:srgbClr val="FFFFFF"/>
                  </a:solidFill>
                  <a:latin typeface="Garet Light"/>
                  <a:ea typeface="Garet Light"/>
                  <a:cs typeface="Garet Light"/>
                  <a:sym typeface="Garet Light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92717" y="6887692"/>
            <a:ext cx="8107189" cy="1970732"/>
            <a:chOff x="0" y="0"/>
            <a:chExt cx="1357589" cy="3300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7589" cy="330009"/>
            </a:xfrm>
            <a:custGeom>
              <a:avLst/>
              <a:gdLst/>
              <a:ahLst/>
              <a:cxnLst/>
              <a:rect r="r" b="b" t="t" l="l"/>
              <a:pathLst>
                <a:path h="330009" w="1357589">
                  <a:moveTo>
                    <a:pt x="0" y="0"/>
                  </a:moveTo>
                  <a:lnTo>
                    <a:pt x="1357589" y="0"/>
                  </a:lnTo>
                  <a:lnTo>
                    <a:pt x="1357589" y="330009"/>
                  </a:lnTo>
                  <a:lnTo>
                    <a:pt x="0" y="330009"/>
                  </a:lnTo>
                  <a:close/>
                </a:path>
              </a:pathLst>
            </a:custGeom>
            <a:gradFill rotWithShape="true">
              <a:gsLst>
                <a:gs pos="0">
                  <a:srgbClr val="D1D0CD">
                    <a:alpha val="77500"/>
                  </a:srgbClr>
                </a:gs>
                <a:gs pos="100000">
                  <a:srgbClr val="275284">
                    <a:alpha val="84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57589" cy="36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92717" y="4917663"/>
            <a:ext cx="8107189" cy="1970732"/>
            <a:chOff x="0" y="0"/>
            <a:chExt cx="1357589" cy="3300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7589" cy="330009"/>
            </a:xfrm>
            <a:custGeom>
              <a:avLst/>
              <a:gdLst/>
              <a:ahLst/>
              <a:cxnLst/>
              <a:rect r="r" b="b" t="t" l="l"/>
              <a:pathLst>
                <a:path h="330009" w="1357589">
                  <a:moveTo>
                    <a:pt x="0" y="0"/>
                  </a:moveTo>
                  <a:lnTo>
                    <a:pt x="1357589" y="0"/>
                  </a:lnTo>
                  <a:lnTo>
                    <a:pt x="1357589" y="330009"/>
                  </a:lnTo>
                  <a:lnTo>
                    <a:pt x="0" y="330009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1D0CD">
                    <a:alpha val="77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57589" cy="36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92717" y="2947634"/>
            <a:ext cx="8107189" cy="1970732"/>
            <a:chOff x="0" y="0"/>
            <a:chExt cx="1357589" cy="3300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57589" cy="330009"/>
            </a:xfrm>
            <a:custGeom>
              <a:avLst/>
              <a:gdLst/>
              <a:ahLst/>
              <a:cxnLst/>
              <a:rect r="r" b="b" t="t" l="l"/>
              <a:pathLst>
                <a:path h="330009" w="1357589">
                  <a:moveTo>
                    <a:pt x="0" y="0"/>
                  </a:moveTo>
                  <a:lnTo>
                    <a:pt x="1357589" y="0"/>
                  </a:lnTo>
                  <a:lnTo>
                    <a:pt x="1357589" y="330009"/>
                  </a:lnTo>
                  <a:lnTo>
                    <a:pt x="0" y="330009"/>
                  </a:lnTo>
                  <a:close/>
                </a:path>
              </a:pathLst>
            </a:custGeom>
            <a:gradFill rotWithShape="true">
              <a:gsLst>
                <a:gs pos="0">
                  <a:srgbClr val="D1D0CD">
                    <a:alpha val="77500"/>
                  </a:srgbClr>
                </a:gs>
                <a:gs pos="100000">
                  <a:srgbClr val="275284">
                    <a:alpha val="84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57589" cy="36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4097" y="2787288"/>
            <a:ext cx="7313131" cy="6302169"/>
            <a:chOff x="0" y="0"/>
            <a:chExt cx="841359" cy="725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359" cy="725050"/>
            </a:xfrm>
            <a:custGeom>
              <a:avLst/>
              <a:gdLst/>
              <a:ahLst/>
              <a:cxnLst/>
              <a:rect r="r" b="b" t="t" l="l"/>
              <a:pathLst>
                <a:path h="725050" w="841359">
                  <a:moveTo>
                    <a:pt x="420679" y="0"/>
                  </a:moveTo>
                  <a:cubicBezTo>
                    <a:pt x="188345" y="0"/>
                    <a:pt x="0" y="162308"/>
                    <a:pt x="0" y="362525"/>
                  </a:cubicBezTo>
                  <a:cubicBezTo>
                    <a:pt x="0" y="562742"/>
                    <a:pt x="188345" y="725050"/>
                    <a:pt x="420679" y="725050"/>
                  </a:cubicBezTo>
                  <a:cubicBezTo>
                    <a:pt x="653014" y="725050"/>
                    <a:pt x="841359" y="562742"/>
                    <a:pt x="841359" y="362525"/>
                  </a:cubicBezTo>
                  <a:cubicBezTo>
                    <a:pt x="841359" y="162308"/>
                    <a:pt x="653014" y="0"/>
                    <a:pt x="4206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1D0CD">
                    <a:alpha val="77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8877" y="29873"/>
              <a:ext cx="683604" cy="627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32990" y="4891000"/>
            <a:ext cx="5195345" cy="4198457"/>
            <a:chOff x="0" y="0"/>
            <a:chExt cx="906341" cy="732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6341" cy="732432"/>
            </a:xfrm>
            <a:custGeom>
              <a:avLst/>
              <a:gdLst/>
              <a:ahLst/>
              <a:cxnLst/>
              <a:rect r="r" b="b" t="t" l="l"/>
              <a:pathLst>
                <a:path h="732432" w="906341">
                  <a:moveTo>
                    <a:pt x="453171" y="0"/>
                  </a:moveTo>
                  <a:cubicBezTo>
                    <a:pt x="202891" y="0"/>
                    <a:pt x="0" y="163960"/>
                    <a:pt x="0" y="366216"/>
                  </a:cubicBezTo>
                  <a:cubicBezTo>
                    <a:pt x="0" y="568471"/>
                    <a:pt x="202891" y="732432"/>
                    <a:pt x="453171" y="732432"/>
                  </a:cubicBezTo>
                  <a:cubicBezTo>
                    <a:pt x="703450" y="732432"/>
                    <a:pt x="906341" y="568471"/>
                    <a:pt x="906341" y="366216"/>
                  </a:cubicBezTo>
                  <a:cubicBezTo>
                    <a:pt x="906341" y="163960"/>
                    <a:pt x="703450" y="0"/>
                    <a:pt x="4531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1D0CD">
                    <a:alpha val="77500"/>
                  </a:srgbClr>
                </a:gs>
                <a:gs pos="100000">
                  <a:srgbClr val="275284">
                    <a:alpha val="84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84969" y="30565"/>
              <a:ext cx="736402" cy="63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00283" y="6884234"/>
            <a:ext cx="3060758" cy="2205223"/>
            <a:chOff x="0" y="0"/>
            <a:chExt cx="1128133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8132" cy="812800"/>
            </a:xfrm>
            <a:custGeom>
              <a:avLst/>
              <a:gdLst/>
              <a:ahLst/>
              <a:cxnLst/>
              <a:rect r="r" b="b" t="t" l="l"/>
              <a:pathLst>
                <a:path h="812800" w="1128132">
                  <a:moveTo>
                    <a:pt x="564066" y="0"/>
                  </a:moveTo>
                  <a:cubicBezTo>
                    <a:pt x="252541" y="0"/>
                    <a:pt x="0" y="181951"/>
                    <a:pt x="0" y="406400"/>
                  </a:cubicBezTo>
                  <a:cubicBezTo>
                    <a:pt x="0" y="630849"/>
                    <a:pt x="252541" y="812800"/>
                    <a:pt x="564066" y="812800"/>
                  </a:cubicBezTo>
                  <a:cubicBezTo>
                    <a:pt x="875591" y="812800"/>
                    <a:pt x="1128132" y="630849"/>
                    <a:pt x="1128132" y="406400"/>
                  </a:cubicBezTo>
                  <a:cubicBezTo>
                    <a:pt x="1128132" y="181951"/>
                    <a:pt x="875591" y="0"/>
                    <a:pt x="5640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1D0CD">
                    <a:alpha val="77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05762" y="38100"/>
              <a:ext cx="916608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314630" y="3537696"/>
            <a:ext cx="2371213" cy="52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b="true" sz="3059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60%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14630" y="5507725"/>
            <a:ext cx="2371213" cy="52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b="true" sz="3059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20%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14630" y="7477754"/>
            <a:ext cx="2371213" cy="52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b="true" sz="3059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20%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39407" y="7470084"/>
            <a:ext cx="982511" cy="3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0"/>
              </a:lnSpc>
              <a:spcBef>
                <a:spcPct val="0"/>
              </a:spcBef>
            </a:pPr>
            <a:r>
              <a:rPr lang="en-US" b="true" sz="209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Layer 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21260" y="5151916"/>
            <a:ext cx="1218805" cy="3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0"/>
              </a:lnSpc>
              <a:spcBef>
                <a:spcPct val="0"/>
              </a:spcBef>
            </a:pPr>
            <a:r>
              <a:rPr lang="en-US" b="true" sz="209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Layer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01553" y="3066791"/>
            <a:ext cx="1258219" cy="3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0"/>
              </a:lnSpc>
              <a:spcBef>
                <a:spcPct val="0"/>
              </a:spcBef>
            </a:pPr>
            <a:r>
              <a:rPr lang="en-US" b="true" sz="209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Layer 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50644" y="7939221"/>
            <a:ext cx="1560037" cy="3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0"/>
              </a:lnSpc>
              <a:spcBef>
                <a:spcPct val="0"/>
              </a:spcBef>
            </a:pPr>
            <a:r>
              <a:rPr lang="en-US" b="true" sz="209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Criticality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50644" y="5589777"/>
            <a:ext cx="1560037" cy="3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0"/>
              </a:lnSpc>
              <a:spcBef>
                <a:spcPct val="0"/>
              </a:spcBef>
            </a:pPr>
            <a:r>
              <a:rPr lang="en-US" b="true" sz="209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Weather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605154" y="3516153"/>
            <a:ext cx="1451017" cy="3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0"/>
              </a:lnSpc>
              <a:spcBef>
                <a:spcPct val="0"/>
              </a:spcBef>
            </a:pPr>
            <a:r>
              <a:rPr lang="en-US" b="true" sz="209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DGA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77633" y="4159106"/>
            <a:ext cx="3470672" cy="45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72"/>
              </a:lnSpc>
              <a:spcBef>
                <a:spcPct val="0"/>
              </a:spcBef>
            </a:pPr>
            <a:r>
              <a:rPr lang="en-US" sz="1337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Physical health from dissolved gas analysis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28453" y="3335466"/>
            <a:ext cx="4837212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DGA Physical Health Score — dominant weight; dissolved gas ratios, fault gas trends, and anomaly severity from SCADA telemetry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28453" y="5304235"/>
            <a:ext cx="4837212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Weather Stress Index — ambient temperature, humidity, and storm proximity amplifying thermal degradation risk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91435" y="6234094"/>
            <a:ext cx="3643068" cy="45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72"/>
              </a:lnSpc>
              <a:spcBef>
                <a:spcPct val="0"/>
              </a:spcBef>
            </a:pPr>
            <a:r>
              <a:rPr lang="en-US" sz="1337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Thermal &amp; storm stress on transformer assets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28453" y="7489134"/>
            <a:ext cx="4837212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 Criticality Score — load centrality, downstream dependency, and consequence severity if asset fails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210134" y="2324366"/>
            <a:ext cx="0" cy="611094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42382" y="3058905"/>
            <a:ext cx="0" cy="41370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6607749" y="8892918"/>
            <a:ext cx="4137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28700" y="5379836"/>
            <a:ext cx="836286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779140" y="2827786"/>
            <a:ext cx="773879" cy="767903"/>
          </a:xfrm>
          <a:custGeom>
            <a:avLst/>
            <a:gdLst/>
            <a:ahLst/>
            <a:cxnLst/>
            <a:rect r="r" b="b" t="t" l="l"/>
            <a:pathLst>
              <a:path h="767903" w="773879">
                <a:moveTo>
                  <a:pt x="0" y="0"/>
                </a:moveTo>
                <a:lnTo>
                  <a:pt x="773879" y="0"/>
                </a:lnTo>
                <a:lnTo>
                  <a:pt x="773879" y="767903"/>
                </a:lnTo>
                <a:lnTo>
                  <a:pt x="0" y="767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62180" y="2876292"/>
            <a:ext cx="862485" cy="778927"/>
          </a:xfrm>
          <a:custGeom>
            <a:avLst/>
            <a:gdLst/>
            <a:ahLst/>
            <a:cxnLst/>
            <a:rect r="r" b="b" t="t" l="l"/>
            <a:pathLst>
              <a:path h="778927" w="862485">
                <a:moveTo>
                  <a:pt x="0" y="0"/>
                </a:moveTo>
                <a:lnTo>
                  <a:pt x="862485" y="0"/>
                </a:lnTo>
                <a:lnTo>
                  <a:pt x="862485" y="778927"/>
                </a:lnTo>
                <a:lnTo>
                  <a:pt x="0" y="778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102686" y="-504067"/>
            <a:ext cx="8586601" cy="12052089"/>
            <a:chOff x="0" y="0"/>
            <a:chExt cx="2318578" cy="32543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8578" cy="3254338"/>
            </a:xfrm>
            <a:custGeom>
              <a:avLst/>
              <a:gdLst/>
              <a:ahLst/>
              <a:cxnLst/>
              <a:rect r="r" b="b" t="t" l="l"/>
              <a:pathLst>
                <a:path h="3254338" w="2318578">
                  <a:moveTo>
                    <a:pt x="0" y="0"/>
                  </a:moveTo>
                  <a:lnTo>
                    <a:pt x="2318578" y="0"/>
                  </a:lnTo>
                  <a:lnTo>
                    <a:pt x="2318578" y="3254338"/>
                  </a:lnTo>
                  <a:lnTo>
                    <a:pt x="0" y="3254338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59150"/>
                  </a:srgbClr>
                </a:gs>
                <a:gs pos="100000">
                  <a:srgbClr val="D5E4FF">
                    <a:alpha val="5425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18578" cy="3292438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74679" y="3570997"/>
            <a:ext cx="6184621" cy="1216077"/>
            <a:chOff x="0" y="0"/>
            <a:chExt cx="1628871" cy="3202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8872" cy="320284"/>
            </a:xfrm>
            <a:custGeom>
              <a:avLst/>
              <a:gdLst/>
              <a:ahLst/>
              <a:cxnLst/>
              <a:rect r="r" b="b" t="t" l="l"/>
              <a:pathLst>
                <a:path h="320284" w="1628872">
                  <a:moveTo>
                    <a:pt x="0" y="0"/>
                  </a:moveTo>
                  <a:lnTo>
                    <a:pt x="1628872" y="0"/>
                  </a:lnTo>
                  <a:lnTo>
                    <a:pt x="1628872" y="320284"/>
                  </a:lnTo>
                  <a:lnTo>
                    <a:pt x="0" y="320284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1D0CD">
                    <a:alpha val="775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28871" cy="35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74679" y="4787075"/>
            <a:ext cx="6184621" cy="1216077"/>
            <a:chOff x="0" y="0"/>
            <a:chExt cx="1628871" cy="3202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28872" cy="320284"/>
            </a:xfrm>
            <a:custGeom>
              <a:avLst/>
              <a:gdLst/>
              <a:ahLst/>
              <a:cxnLst/>
              <a:rect r="r" b="b" t="t" l="l"/>
              <a:pathLst>
                <a:path h="320284" w="1628872">
                  <a:moveTo>
                    <a:pt x="0" y="0"/>
                  </a:moveTo>
                  <a:lnTo>
                    <a:pt x="1628872" y="0"/>
                  </a:lnTo>
                  <a:lnTo>
                    <a:pt x="1628872" y="320284"/>
                  </a:lnTo>
                  <a:lnTo>
                    <a:pt x="0" y="320284"/>
                  </a:lnTo>
                  <a:close/>
                </a:path>
              </a:pathLst>
            </a:custGeom>
            <a:gradFill rotWithShape="true">
              <a:gsLst>
                <a:gs pos="0">
                  <a:srgbClr val="D1D0CD">
                    <a:alpha val="77500"/>
                  </a:srgbClr>
                </a:gs>
                <a:gs pos="100000">
                  <a:srgbClr val="275284">
                    <a:alpha val="845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28871" cy="35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74679" y="6003152"/>
            <a:ext cx="6184621" cy="1216077"/>
            <a:chOff x="0" y="0"/>
            <a:chExt cx="1628871" cy="320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8872" cy="320284"/>
            </a:xfrm>
            <a:custGeom>
              <a:avLst/>
              <a:gdLst/>
              <a:ahLst/>
              <a:cxnLst/>
              <a:rect r="r" b="b" t="t" l="l"/>
              <a:pathLst>
                <a:path h="320284" w="1628872">
                  <a:moveTo>
                    <a:pt x="0" y="0"/>
                  </a:moveTo>
                  <a:lnTo>
                    <a:pt x="1628872" y="0"/>
                  </a:lnTo>
                  <a:lnTo>
                    <a:pt x="1628872" y="320284"/>
                  </a:lnTo>
                  <a:lnTo>
                    <a:pt x="0" y="320284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1D0CD">
                    <a:alpha val="775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28871" cy="35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74679" y="7219230"/>
            <a:ext cx="6184621" cy="1216077"/>
            <a:chOff x="0" y="0"/>
            <a:chExt cx="1628871" cy="3202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28872" cy="320284"/>
            </a:xfrm>
            <a:custGeom>
              <a:avLst/>
              <a:gdLst/>
              <a:ahLst/>
              <a:cxnLst/>
              <a:rect r="r" b="b" t="t" l="l"/>
              <a:pathLst>
                <a:path h="320284" w="1628872">
                  <a:moveTo>
                    <a:pt x="0" y="0"/>
                  </a:moveTo>
                  <a:lnTo>
                    <a:pt x="1628872" y="0"/>
                  </a:lnTo>
                  <a:lnTo>
                    <a:pt x="1628872" y="320284"/>
                  </a:lnTo>
                  <a:lnTo>
                    <a:pt x="0" y="320284"/>
                  </a:lnTo>
                  <a:close/>
                </a:path>
              </a:pathLst>
            </a:custGeom>
            <a:gradFill rotWithShape="true">
              <a:gsLst>
                <a:gs pos="0">
                  <a:srgbClr val="D1D0CD">
                    <a:alpha val="77500"/>
                  </a:srgbClr>
                </a:gs>
                <a:gs pos="100000">
                  <a:srgbClr val="275284">
                    <a:alpha val="845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28871" cy="35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374499" y="6129152"/>
            <a:ext cx="1034780" cy="934391"/>
          </a:xfrm>
          <a:custGeom>
            <a:avLst/>
            <a:gdLst/>
            <a:ahLst/>
            <a:cxnLst/>
            <a:rect r="r" b="b" t="t" l="l"/>
            <a:pathLst>
              <a:path h="934391" w="1034780">
                <a:moveTo>
                  <a:pt x="0" y="0"/>
                </a:moveTo>
                <a:lnTo>
                  <a:pt x="1034780" y="0"/>
                </a:lnTo>
                <a:lnTo>
                  <a:pt x="1034780" y="934391"/>
                </a:lnTo>
                <a:lnTo>
                  <a:pt x="0" y="93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836276" y="5970458"/>
            <a:ext cx="788170" cy="1038674"/>
          </a:xfrm>
          <a:custGeom>
            <a:avLst/>
            <a:gdLst/>
            <a:ahLst/>
            <a:cxnLst/>
            <a:rect r="r" b="b" t="t" l="l"/>
            <a:pathLst>
              <a:path h="1038674" w="788170">
                <a:moveTo>
                  <a:pt x="0" y="0"/>
                </a:moveTo>
                <a:lnTo>
                  <a:pt x="788170" y="0"/>
                </a:lnTo>
                <a:lnTo>
                  <a:pt x="788170" y="1038674"/>
                </a:lnTo>
                <a:lnTo>
                  <a:pt x="0" y="10386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2189351">
            <a:off x="14544765" y="-1757511"/>
            <a:ext cx="5069606" cy="4987225"/>
          </a:xfrm>
          <a:custGeom>
            <a:avLst/>
            <a:gdLst/>
            <a:ahLst/>
            <a:cxnLst/>
            <a:rect r="r" b="b" t="t" l="l"/>
            <a:pathLst>
              <a:path h="4987225" w="5069606">
                <a:moveTo>
                  <a:pt x="0" y="0"/>
                </a:moveTo>
                <a:lnTo>
                  <a:pt x="5069607" y="0"/>
                </a:lnTo>
                <a:lnTo>
                  <a:pt x="5069607" y="4987225"/>
                </a:lnTo>
                <a:lnTo>
                  <a:pt x="0" y="49872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1607683">
            <a:off x="9446220" y="8805756"/>
            <a:ext cx="3634425" cy="3592327"/>
          </a:xfrm>
          <a:custGeom>
            <a:avLst/>
            <a:gdLst/>
            <a:ahLst/>
            <a:cxnLst/>
            <a:rect r="r" b="b" t="t" l="l"/>
            <a:pathLst>
              <a:path h="3592327" w="3634425">
                <a:moveTo>
                  <a:pt x="0" y="0"/>
                </a:moveTo>
                <a:lnTo>
                  <a:pt x="3634425" y="0"/>
                </a:lnTo>
                <a:lnTo>
                  <a:pt x="3634425" y="3592327"/>
                </a:lnTo>
                <a:lnTo>
                  <a:pt x="0" y="35923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8700" y="914400"/>
            <a:ext cx="9073986" cy="102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50"/>
              </a:lnSpc>
              <a:spcBef>
                <a:spcPct val="0"/>
              </a:spcBef>
            </a:pPr>
            <a:r>
              <a:rPr lang="en-US" b="true" sz="5964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PRODUCT EXPERIENCE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058902"/>
            <a:ext cx="1684209" cy="25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 AI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04296" y="9058902"/>
            <a:ext cx="704983" cy="25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43845" y="1688160"/>
            <a:ext cx="4846289" cy="5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34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Command-Center UI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09409" y="3786759"/>
            <a:ext cx="2505181" cy="31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8"/>
              </a:lnSpc>
              <a:spcBef>
                <a:spcPct val="0"/>
              </a:spcBef>
            </a:pPr>
            <a:r>
              <a:rPr lang="en-US" sz="19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DGA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94559" y="3885745"/>
            <a:ext cx="2505181" cy="31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8"/>
              </a:lnSpc>
              <a:spcBef>
                <a:spcPct val="0"/>
              </a:spcBef>
            </a:pPr>
            <a:r>
              <a:rPr lang="en-US" sz="19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Fleet Diagnostics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94559" y="7143112"/>
            <a:ext cx="2505181" cy="31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8"/>
              </a:lnSpc>
              <a:spcBef>
                <a:spcPct val="0"/>
              </a:spcBef>
            </a:pPr>
            <a:r>
              <a:rPr lang="en-US" sz="19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Weather Context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974075" y="7143112"/>
            <a:ext cx="2505181" cy="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8"/>
              </a:lnSpc>
              <a:spcBef>
                <a:spcPct val="0"/>
              </a:spcBef>
            </a:pPr>
            <a:r>
              <a:rPr lang="en-US" sz="19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Work-Order Workflow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82089" y="3876776"/>
            <a:ext cx="536980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Fleet view flags high-risk transformers with composite score overlays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82089" y="5114925"/>
            <a:ext cx="536980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DGA diagnostics surface dissolved-gas trends and fault-type classification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82089" y="6152790"/>
            <a:ext cx="536980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Live weather stress layer shows heat, humidity and storm exposure per asset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82089" y="7427718"/>
            <a:ext cx="536980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Granite drafts prioritised work orders; engineer countersigns before dispatch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36754" y="2815815"/>
            <a:ext cx="13317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Asset health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06043" y="8740501"/>
            <a:ext cx="267501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Risk explainability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368835"/>
            <a:ext cx="16230600" cy="2149470"/>
            <a:chOff x="0" y="0"/>
            <a:chExt cx="2564958" cy="3396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4958" cy="339686"/>
            </a:xfrm>
            <a:custGeom>
              <a:avLst/>
              <a:gdLst/>
              <a:ahLst/>
              <a:cxnLst/>
              <a:rect r="r" b="b" t="t" l="l"/>
              <a:pathLst>
                <a:path h="339686" w="2564958">
                  <a:moveTo>
                    <a:pt x="0" y="0"/>
                  </a:moveTo>
                  <a:lnTo>
                    <a:pt x="2564958" y="0"/>
                  </a:lnTo>
                  <a:lnTo>
                    <a:pt x="2564958" y="339686"/>
                  </a:lnTo>
                  <a:lnTo>
                    <a:pt x="0" y="339686"/>
                  </a:lnTo>
                  <a:close/>
                </a:path>
              </a:pathLst>
            </a:custGeom>
            <a:solidFill>
              <a:srgbClr val="53698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64958" cy="377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220132"/>
            <a:ext cx="16230600" cy="2149470"/>
            <a:chOff x="0" y="0"/>
            <a:chExt cx="2564958" cy="3396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4958" cy="339686"/>
            </a:xfrm>
            <a:custGeom>
              <a:avLst/>
              <a:gdLst/>
              <a:ahLst/>
              <a:cxnLst/>
              <a:rect r="r" b="b" t="t" l="l"/>
              <a:pathLst>
                <a:path h="339686" w="2564958">
                  <a:moveTo>
                    <a:pt x="0" y="0"/>
                  </a:moveTo>
                  <a:lnTo>
                    <a:pt x="2564958" y="0"/>
                  </a:lnTo>
                  <a:lnTo>
                    <a:pt x="2564958" y="339686"/>
                  </a:lnTo>
                  <a:lnTo>
                    <a:pt x="0" y="339686"/>
                  </a:lnTo>
                  <a:close/>
                </a:path>
              </a:pathLst>
            </a:custGeom>
            <a:solidFill>
              <a:srgbClr val="53698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64958" cy="377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071429"/>
            <a:ext cx="16230600" cy="2149470"/>
            <a:chOff x="0" y="0"/>
            <a:chExt cx="2564958" cy="3396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4958" cy="339686"/>
            </a:xfrm>
            <a:custGeom>
              <a:avLst/>
              <a:gdLst/>
              <a:ahLst/>
              <a:cxnLst/>
              <a:rect r="r" b="b" t="t" l="l"/>
              <a:pathLst>
                <a:path h="339686" w="2564958">
                  <a:moveTo>
                    <a:pt x="0" y="0"/>
                  </a:moveTo>
                  <a:lnTo>
                    <a:pt x="2564958" y="0"/>
                  </a:lnTo>
                  <a:lnTo>
                    <a:pt x="2564958" y="339686"/>
                  </a:lnTo>
                  <a:lnTo>
                    <a:pt x="0" y="339686"/>
                  </a:lnTo>
                  <a:close/>
                </a:path>
              </a:pathLst>
            </a:custGeom>
            <a:solidFill>
              <a:srgbClr val="53698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64958" cy="377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5363" y="2438001"/>
            <a:ext cx="1325944" cy="132594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5C83BE">
                    <a:alpha val="57500"/>
                  </a:srgbClr>
                </a:gs>
                <a:gs pos="100000">
                  <a:srgbClr val="D1D0CD">
                    <a:alpha val="53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5363" y="4631895"/>
            <a:ext cx="1325944" cy="13259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D1D0CD">
                    <a:alpha val="53000"/>
                  </a:srgbClr>
                </a:gs>
                <a:gs pos="100000">
                  <a:srgbClr val="5C83BE">
                    <a:alpha val="57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797347"/>
            <a:ext cx="15710724" cy="89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82"/>
              </a:lnSpc>
              <a:spcBef>
                <a:spcPct val="0"/>
              </a:spcBef>
            </a:pPr>
            <a:r>
              <a:rPr lang="en-US" b="true" sz="527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DECISION &amp; SIMULATION: WHAT-IF PLANNING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049377"/>
            <a:ext cx="1553195" cy="23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371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9830" y="9049377"/>
            <a:ext cx="442955" cy="23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371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70100" y="4595892"/>
            <a:ext cx="4846289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Operational Contingency Simulator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70100" y="2413619"/>
            <a:ext cx="4846289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Risk Explanation Engine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39489" y="2761867"/>
            <a:ext cx="417693" cy="43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2"/>
              </a:lnSpc>
              <a:spcBef>
                <a:spcPct val="0"/>
              </a:spcBef>
            </a:pPr>
            <a:r>
              <a:rPr lang="en-US" b="true" sz="251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70100" y="6778164"/>
            <a:ext cx="6462753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Operational Load Transfer Planner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85363" y="6825789"/>
            <a:ext cx="1325944" cy="132594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5C83BE">
                    <a:alpha val="57500"/>
                  </a:srgbClr>
                </a:gs>
                <a:gs pos="100000">
                  <a:srgbClr val="D1D0CD">
                    <a:alpha val="53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170100" y="3072398"/>
            <a:ext cx="10054125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Breaks down every composite risk score into its 60/20/20 components — physical DGA health, weather stress, and grid criticality — with plain-language rationale for each flagged asset.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70100" y="5211345"/>
            <a:ext cx="10054125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Models cascading failure scenarios and rerouting options in a sandbox environment. Operators explore "what if this transformer fails?" without touching live SCADA data or control systems.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70100" y="7354998"/>
            <a:ext cx="10054125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Suggests safe load-transfer sequences to isolate high-risk assets during planned maintenance or emergency response, ranked by consequence severity and grid stability impact.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30676" y="7284832"/>
            <a:ext cx="3566509" cy="23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371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Advisory-only output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930676" y="5136129"/>
            <a:ext cx="3566509" cy="23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371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Read-only / no SCADA writes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30676" y="2987426"/>
            <a:ext cx="3566509" cy="23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371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Fully explainable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39489" y="4955761"/>
            <a:ext cx="417693" cy="43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2"/>
              </a:lnSpc>
              <a:spcBef>
                <a:spcPct val="0"/>
              </a:spcBef>
            </a:pPr>
            <a:r>
              <a:rPr lang="en-US" b="true" sz="251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39489" y="7149656"/>
            <a:ext cx="417693" cy="43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2"/>
              </a:lnSpc>
              <a:spcBef>
                <a:spcPct val="0"/>
              </a:spcBef>
            </a:pPr>
            <a:r>
              <a:rPr lang="en-US" b="true" sz="251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035662"/>
            <a:ext cx="4776740" cy="5289816"/>
            <a:chOff x="0" y="0"/>
            <a:chExt cx="1289829" cy="14283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9829" cy="1428371"/>
            </a:xfrm>
            <a:custGeom>
              <a:avLst/>
              <a:gdLst/>
              <a:ahLst/>
              <a:cxnLst/>
              <a:rect r="r" b="b" t="t" l="l"/>
              <a:pathLst>
                <a:path h="1428371" w="1289829">
                  <a:moveTo>
                    <a:pt x="0" y="0"/>
                  </a:moveTo>
                  <a:lnTo>
                    <a:pt x="1289829" y="0"/>
                  </a:lnTo>
                  <a:lnTo>
                    <a:pt x="1289829" y="1428371"/>
                  </a:lnTo>
                  <a:lnTo>
                    <a:pt x="0" y="1428371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5E4FF">
                    <a:alpha val="77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9829" cy="1466471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55630" y="3035662"/>
            <a:ext cx="4776740" cy="5289816"/>
            <a:chOff x="0" y="0"/>
            <a:chExt cx="1289829" cy="14283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829" cy="1428371"/>
            </a:xfrm>
            <a:custGeom>
              <a:avLst/>
              <a:gdLst/>
              <a:ahLst/>
              <a:cxnLst/>
              <a:rect r="r" b="b" t="t" l="l"/>
              <a:pathLst>
                <a:path h="1428371" w="1289829">
                  <a:moveTo>
                    <a:pt x="0" y="0"/>
                  </a:moveTo>
                  <a:lnTo>
                    <a:pt x="1289829" y="0"/>
                  </a:lnTo>
                  <a:lnTo>
                    <a:pt x="1289829" y="1428371"/>
                  </a:lnTo>
                  <a:lnTo>
                    <a:pt x="0" y="1428371"/>
                  </a:lnTo>
                  <a:close/>
                </a:path>
              </a:pathLst>
            </a:custGeom>
            <a:gradFill rotWithShape="true">
              <a:gsLst>
                <a:gs pos="0">
                  <a:srgbClr val="D5E4FF">
                    <a:alpha val="77500"/>
                  </a:srgbClr>
                </a:gs>
                <a:gs pos="100000">
                  <a:srgbClr val="275284">
                    <a:alpha val="84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9829" cy="1466471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82560" y="3035662"/>
            <a:ext cx="4776740" cy="5289816"/>
            <a:chOff x="0" y="0"/>
            <a:chExt cx="1289829" cy="14283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9829" cy="1428371"/>
            </a:xfrm>
            <a:custGeom>
              <a:avLst/>
              <a:gdLst/>
              <a:ahLst/>
              <a:cxnLst/>
              <a:rect r="r" b="b" t="t" l="l"/>
              <a:pathLst>
                <a:path h="1428371" w="1289829">
                  <a:moveTo>
                    <a:pt x="0" y="0"/>
                  </a:moveTo>
                  <a:lnTo>
                    <a:pt x="1289829" y="0"/>
                  </a:lnTo>
                  <a:lnTo>
                    <a:pt x="1289829" y="1428371"/>
                  </a:lnTo>
                  <a:lnTo>
                    <a:pt x="0" y="1428371"/>
                  </a:lnTo>
                  <a:close/>
                </a:path>
              </a:pathLst>
            </a:custGeom>
            <a:gradFill rotWithShape="true">
              <a:gsLst>
                <a:gs pos="0">
                  <a:srgbClr val="275284">
                    <a:alpha val="84500"/>
                  </a:srgbClr>
                </a:gs>
                <a:gs pos="100000">
                  <a:srgbClr val="D5E4FF">
                    <a:alpha val="775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9829" cy="1466471"/>
            </a:xfrm>
            <a:prstGeom prst="rect">
              <a:avLst/>
            </a:prstGeom>
          </p:spPr>
          <p:txBody>
            <a:bodyPr anchor="ctr" rtlCol="false" tIns="49549" lIns="49549" bIns="49549" rIns="49549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422418" y="5902476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7130169" y="5902476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2857099" y="5902476"/>
            <a:ext cx="99361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7324482" y="3327199"/>
            <a:ext cx="1016296" cy="1433927"/>
          </a:xfrm>
          <a:custGeom>
            <a:avLst/>
            <a:gdLst/>
            <a:ahLst/>
            <a:cxnLst/>
            <a:rect r="r" b="b" t="t" l="l"/>
            <a:pathLst>
              <a:path h="1433927" w="1016296">
                <a:moveTo>
                  <a:pt x="0" y="0"/>
                </a:moveTo>
                <a:lnTo>
                  <a:pt x="1016295" y="0"/>
                </a:lnTo>
                <a:lnTo>
                  <a:pt x="1016295" y="1433927"/>
                </a:lnTo>
                <a:lnTo>
                  <a:pt x="0" y="143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2082" y="3729883"/>
            <a:ext cx="855375" cy="865663"/>
          </a:xfrm>
          <a:custGeom>
            <a:avLst/>
            <a:gdLst/>
            <a:ahLst/>
            <a:cxnLst/>
            <a:rect r="r" b="b" t="t" l="l"/>
            <a:pathLst>
              <a:path h="865663" w="855375">
                <a:moveTo>
                  <a:pt x="0" y="0"/>
                </a:moveTo>
                <a:lnTo>
                  <a:pt x="855375" y="0"/>
                </a:lnTo>
                <a:lnTo>
                  <a:pt x="855375" y="865663"/>
                </a:lnTo>
                <a:lnTo>
                  <a:pt x="0" y="865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978497" y="3700783"/>
            <a:ext cx="813237" cy="951461"/>
          </a:xfrm>
          <a:custGeom>
            <a:avLst/>
            <a:gdLst/>
            <a:ahLst/>
            <a:cxnLst/>
            <a:rect r="r" b="b" t="t" l="l"/>
            <a:pathLst>
              <a:path h="951461" w="813237">
                <a:moveTo>
                  <a:pt x="0" y="0"/>
                </a:moveTo>
                <a:lnTo>
                  <a:pt x="813237" y="0"/>
                </a:lnTo>
                <a:lnTo>
                  <a:pt x="813237" y="951461"/>
                </a:lnTo>
                <a:lnTo>
                  <a:pt x="0" y="9514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933450"/>
            <a:ext cx="10984367" cy="87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6"/>
              </a:lnSpc>
              <a:spcBef>
                <a:spcPct val="0"/>
              </a:spcBef>
            </a:pPr>
            <a:r>
              <a:rPr lang="en-US" b="true" sz="514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AI + RESPONSIBLE GOVERNANCE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081226"/>
            <a:ext cx="172593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 AI is built on IBM Granite 3.0 with human-in-the-loop safeguards, offline resilience, and strict advisory-only boundaries.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30169" y="5183569"/>
            <a:ext cx="2115195" cy="34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9"/>
              </a:lnSpc>
              <a:spcBef>
                <a:spcPct val="0"/>
              </a:spcBef>
            </a:pPr>
            <a:r>
              <a:rPr lang="en-US" b="true" sz="201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Human-in-Loop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6345" y="5183569"/>
            <a:ext cx="2390619" cy="34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9"/>
              </a:lnSpc>
              <a:spcBef>
                <a:spcPct val="0"/>
              </a:spcBef>
            </a:pPr>
            <a:r>
              <a:rPr lang="en-US" b="true" sz="201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Governance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3239" y="5183569"/>
            <a:ext cx="1867313" cy="34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9"/>
              </a:lnSpc>
              <a:spcBef>
                <a:spcPct val="0"/>
              </a:spcBef>
            </a:pPr>
            <a:r>
              <a:rPr lang="en-US" b="true" sz="201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Granite 3.0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9058902"/>
            <a:ext cx="1536868" cy="25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12087" y="9058902"/>
            <a:ext cx="704983" cy="25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3239" y="6329224"/>
            <a:ext cx="4027663" cy="16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IBM Granite 3.0 powers risk narrative generation and work-order synthesis. Developed entirely within IBM Bob IDE. Offline fallback mode ensures continuous scoring even when LLM connectivity is unavailable.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30169" y="6329224"/>
            <a:ext cx="4027663" cy="16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Every AI-generated work order requires a human engineer countersign before dispatch. No automated action is taken on live SCADA. GridSentinel surfaces risk — operators make all final decisions.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7099" y="6329224"/>
            <a:ext cx="4027663" cy="16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 operates in advisory-only mode with full audit trails. Risk scores are fully explainable via the 60/20/20 formula. No black-box outputs — every recommendation is traceable and contestable.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58811" y="3078754"/>
            <a:ext cx="13570377" cy="1680019"/>
            <a:chOff x="0" y="0"/>
            <a:chExt cx="3574091" cy="442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74091" cy="442474"/>
            </a:xfrm>
            <a:custGeom>
              <a:avLst/>
              <a:gdLst/>
              <a:ahLst/>
              <a:cxnLst/>
              <a:rect r="r" b="b" t="t" l="l"/>
              <a:pathLst>
                <a:path h="442474" w="3574091">
                  <a:moveTo>
                    <a:pt x="0" y="0"/>
                  </a:moveTo>
                  <a:lnTo>
                    <a:pt x="3574091" y="0"/>
                  </a:lnTo>
                  <a:lnTo>
                    <a:pt x="3574091" y="442474"/>
                  </a:lnTo>
                  <a:lnTo>
                    <a:pt x="0" y="442474"/>
                  </a:lnTo>
                  <a:close/>
                </a:path>
              </a:pathLst>
            </a:custGeom>
            <a:gradFill rotWithShape="true">
              <a:gsLst>
                <a:gs pos="0">
                  <a:srgbClr val="D1D0CD">
                    <a:alpha val="53000"/>
                  </a:srgbClr>
                </a:gs>
                <a:gs pos="100000">
                  <a:srgbClr val="5C83BE">
                    <a:alpha val="57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74091" cy="480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57078" y="865633"/>
            <a:ext cx="8373845" cy="29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9"/>
              </a:lnSpc>
              <a:spcBef>
                <a:spcPct val="0"/>
              </a:spcBef>
            </a:pPr>
            <a:r>
              <a:rPr lang="en-US" sz="1785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IBM Bob AI Hackathon 2026 — Track U1: Grid Reliability &amp; Risk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8811" y="2010347"/>
            <a:ext cx="13570377" cy="67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1"/>
              </a:lnSpc>
              <a:spcBef>
                <a:spcPct val="0"/>
              </a:spcBef>
            </a:pPr>
            <a:r>
              <a:rPr lang="en-US" sz="1957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"Earlier attention to high-risk assets. Faster work-order synthesis. Consequence-aware prioritization — building a resilient, explainable grid."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35464" y="4958515"/>
            <a:ext cx="5220285" cy="33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Team Mantra — GridSentinel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55749" y="8847873"/>
            <a:ext cx="5192185" cy="33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IBM Bob AI Hackathon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4537" y="3615054"/>
            <a:ext cx="12898926" cy="55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4"/>
              </a:lnSpc>
              <a:spcBef>
                <a:spcPct val="0"/>
              </a:spcBef>
            </a:pPr>
            <a:r>
              <a:rPr lang="en-US" b="true" sz="327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GRIDSENTINEL AI — POWERING RESILIENT GRID OPERATIONS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49377"/>
            <a:ext cx="1330111" cy="23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  <a:spcBef>
                <a:spcPct val="0"/>
              </a:spcBef>
            </a:pPr>
            <a:r>
              <a:rPr lang="en-US" sz="136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GridSentinel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3237" y="9049377"/>
            <a:ext cx="704983" cy="23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  <a:spcBef>
                <a:spcPct val="0"/>
              </a:spcBef>
            </a:pPr>
            <a:r>
              <a:rPr lang="en-US" sz="136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0</a:t>
            </a:r>
            <a:r>
              <a:rPr lang="en-US" sz="136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8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633478" y="1570459"/>
            <a:ext cx="9024257" cy="0"/>
          </a:xfrm>
          <a:prstGeom prst="line">
            <a:avLst/>
          </a:prstGeom>
          <a:ln cap="flat" w="38100">
            <a:gradFill>
              <a:gsLst>
                <a:gs pos="0">
                  <a:srgbClr val="E7FEFF">
                    <a:alpha val="100000"/>
                  </a:srgbClr>
                </a:gs>
                <a:gs pos="100000">
                  <a:srgbClr val="99B3F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79672" y="5385635"/>
            <a:ext cx="3884733" cy="3112578"/>
          </a:xfrm>
          <a:custGeom>
            <a:avLst/>
            <a:gdLst/>
            <a:ahLst/>
            <a:cxnLst/>
            <a:rect r="r" b="b" t="t" l="l"/>
            <a:pathLst>
              <a:path h="3112578" w="3884733">
                <a:moveTo>
                  <a:pt x="0" y="0"/>
                </a:moveTo>
                <a:lnTo>
                  <a:pt x="3884733" y="0"/>
                </a:lnTo>
                <a:lnTo>
                  <a:pt x="3884733" y="3112578"/>
                </a:lnTo>
                <a:lnTo>
                  <a:pt x="0" y="3112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8131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98309" y="5650812"/>
            <a:ext cx="2606254" cy="39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639" spc="-79" b="true">
                <a:solidFill>
                  <a:srgbClr val="00A9FF"/>
                </a:solidFill>
                <a:latin typeface="Roboto Bold"/>
                <a:ea typeface="Roboto Bold"/>
                <a:cs typeface="Roboto Bold"/>
                <a:sym typeface="Roboto Bold"/>
              </a:rPr>
              <a:t>Mahek Dhebariya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8309" y="6115206"/>
            <a:ext cx="3120646" cy="26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788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Team Lead &amp; Frontend Architect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85072" y="6479938"/>
            <a:ext cx="3473933" cy="205400"/>
          </a:xfrm>
          <a:custGeom>
            <a:avLst/>
            <a:gdLst/>
            <a:ahLst/>
            <a:cxnLst/>
            <a:rect r="r" b="b" t="t" l="l"/>
            <a:pathLst>
              <a:path h="205400" w="3473933">
                <a:moveTo>
                  <a:pt x="0" y="0"/>
                </a:moveTo>
                <a:lnTo>
                  <a:pt x="3473933" y="0"/>
                </a:lnTo>
                <a:lnTo>
                  <a:pt x="3473933" y="205400"/>
                </a:lnTo>
                <a:lnTo>
                  <a:pt x="0" y="20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98309" y="6770882"/>
            <a:ext cx="2674839" cy="130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React 18 + Vite dashboard animated gauges</a:t>
            </a:r>
          </a:p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FastAPI integration</a:t>
            </a:r>
          </a:p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UI/UX, presentation prep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055474" y="5385635"/>
            <a:ext cx="4090132" cy="3112578"/>
          </a:xfrm>
          <a:custGeom>
            <a:avLst/>
            <a:gdLst/>
            <a:ahLst/>
            <a:cxnLst/>
            <a:rect r="r" b="b" t="t" l="l"/>
            <a:pathLst>
              <a:path h="3112578" w="4090132">
                <a:moveTo>
                  <a:pt x="0" y="0"/>
                </a:moveTo>
                <a:lnTo>
                  <a:pt x="4090132" y="0"/>
                </a:lnTo>
                <a:lnTo>
                  <a:pt x="4090132" y="3112578"/>
                </a:lnTo>
                <a:lnTo>
                  <a:pt x="0" y="3112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8131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476276" y="5650812"/>
            <a:ext cx="2246179" cy="39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639" spc="-79" b="true">
                <a:solidFill>
                  <a:srgbClr val="00A9FF"/>
                </a:solidFill>
                <a:latin typeface="Roboto Bold"/>
                <a:ea typeface="Roboto Bold"/>
                <a:cs typeface="Roboto Bold"/>
                <a:sym typeface="Roboto Bold"/>
              </a:rPr>
              <a:t>Khushi Ka.Patel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76276" y="6115206"/>
            <a:ext cx="3257817" cy="26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788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Physics &amp; Diagnostic Engine Lead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260874" y="6479938"/>
            <a:ext cx="3688263" cy="205400"/>
          </a:xfrm>
          <a:custGeom>
            <a:avLst/>
            <a:gdLst/>
            <a:ahLst/>
            <a:cxnLst/>
            <a:rect r="r" b="b" t="t" l="l"/>
            <a:pathLst>
              <a:path h="205400" w="3688263">
                <a:moveTo>
                  <a:pt x="0" y="0"/>
                </a:moveTo>
                <a:lnTo>
                  <a:pt x="3688263" y="0"/>
                </a:lnTo>
                <a:lnTo>
                  <a:pt x="3688263" y="205400"/>
                </a:lnTo>
                <a:lnTo>
                  <a:pt x="0" y="20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476276" y="6770882"/>
            <a:ext cx="3052060" cy="130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Authored ‘src/dga_engine’s py’ per IEEE C57.104</a:t>
            </a:r>
          </a:p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gas ratio and thermal degradation algorithms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145606" y="5385635"/>
            <a:ext cx="4090132" cy="3112578"/>
          </a:xfrm>
          <a:custGeom>
            <a:avLst/>
            <a:gdLst/>
            <a:ahLst/>
            <a:cxnLst/>
            <a:rect r="r" b="b" t="t" l="l"/>
            <a:pathLst>
              <a:path h="3112578" w="4090132">
                <a:moveTo>
                  <a:pt x="0" y="0"/>
                </a:moveTo>
                <a:lnTo>
                  <a:pt x="4090133" y="0"/>
                </a:lnTo>
                <a:lnTo>
                  <a:pt x="4090133" y="3112578"/>
                </a:lnTo>
                <a:lnTo>
                  <a:pt x="0" y="31125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8131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454242" y="5650812"/>
            <a:ext cx="1920397" cy="39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639" spc="-79" b="true">
                <a:solidFill>
                  <a:srgbClr val="00A9FF"/>
                </a:solidFill>
                <a:latin typeface="Roboto Bold"/>
                <a:ea typeface="Roboto Bold"/>
                <a:cs typeface="Roboto Bold"/>
                <a:sym typeface="Roboto Bold"/>
              </a:rPr>
              <a:t>Palak Donga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54242" y="6115206"/>
            <a:ext cx="3446428" cy="26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788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Data, Criticality &amp; IBM Granite Lead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342076" y="6479938"/>
            <a:ext cx="3482864" cy="205400"/>
          </a:xfrm>
          <a:custGeom>
            <a:avLst/>
            <a:gdLst/>
            <a:ahLst/>
            <a:cxnLst/>
            <a:rect r="r" b="b" t="t" l="l"/>
            <a:pathLst>
              <a:path h="205400" w="3482864">
                <a:moveTo>
                  <a:pt x="0" y="0"/>
                </a:moveTo>
                <a:lnTo>
                  <a:pt x="3482863" y="0"/>
                </a:lnTo>
                <a:lnTo>
                  <a:pt x="3482863" y="205400"/>
                </a:lnTo>
                <a:lnTo>
                  <a:pt x="0" y="20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454242" y="6770882"/>
            <a:ext cx="2674839" cy="130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Built ‘criticality engine’’</a:t>
            </a:r>
          </a:p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‘weather engine’’</a:t>
            </a:r>
          </a:p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engineered IBM Granite</a:t>
            </a:r>
          </a:p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prompt pipeline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226808" y="5385635"/>
            <a:ext cx="3884733" cy="3112578"/>
          </a:xfrm>
          <a:custGeom>
            <a:avLst/>
            <a:gdLst/>
            <a:ahLst/>
            <a:cxnLst/>
            <a:rect r="r" b="b" t="t" l="l"/>
            <a:pathLst>
              <a:path h="3112578" w="3884733">
                <a:moveTo>
                  <a:pt x="0" y="0"/>
                </a:moveTo>
                <a:lnTo>
                  <a:pt x="3884733" y="0"/>
                </a:lnTo>
                <a:lnTo>
                  <a:pt x="3884733" y="3112578"/>
                </a:lnTo>
                <a:lnTo>
                  <a:pt x="0" y="31125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8131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517940" y="5650812"/>
            <a:ext cx="2006130" cy="39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639" spc="-79" b="true">
                <a:solidFill>
                  <a:srgbClr val="00A9FF"/>
                </a:solidFill>
                <a:latin typeface="Roboto Bold"/>
                <a:ea typeface="Roboto Bold"/>
                <a:cs typeface="Roboto Bold"/>
                <a:sym typeface="Roboto Bold"/>
              </a:rPr>
              <a:t>Yashvi Antala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17940" y="6115206"/>
            <a:ext cx="3257817" cy="26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788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Quality Assurance &amp; Testing Lead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432208" y="6479938"/>
            <a:ext cx="3473933" cy="205400"/>
          </a:xfrm>
          <a:custGeom>
            <a:avLst/>
            <a:gdLst/>
            <a:ahLst/>
            <a:cxnLst/>
            <a:rect r="r" b="b" t="t" l="l"/>
            <a:pathLst>
              <a:path h="205400" w="3473933">
                <a:moveTo>
                  <a:pt x="0" y="0"/>
                </a:moveTo>
                <a:lnTo>
                  <a:pt x="3473933" y="0"/>
                </a:lnTo>
                <a:lnTo>
                  <a:pt x="3473933" y="205400"/>
                </a:lnTo>
                <a:lnTo>
                  <a:pt x="0" y="20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517940" y="6762487"/>
            <a:ext cx="2674839" cy="9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Led system verification</a:t>
            </a:r>
          </a:p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 suite execution</a:t>
            </a:r>
          </a:p>
          <a:p>
            <a:pPr algn="l">
              <a:lnSpc>
                <a:spcPts val="2610"/>
              </a:lnSpc>
            </a:pPr>
            <a:r>
              <a:rPr lang="en-US" sz="1652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documentation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DAHVRRApyPE</dc:identifier>
  <dcterms:modified xsi:type="dcterms:W3CDTF">2011-08-01T06:04:30Z</dcterms:modified>
  <cp:revision>1</cp:revision>
  <dc:title>GridSentinel AI Hackathon Deck</dc:title>
</cp:coreProperties>
</file>